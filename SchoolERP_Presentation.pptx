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548640"/>
            <a:ext cx="2926080" cy="2926080"/>
          </a:xfrm>
          <a:prstGeom prst="ellipse">
            <a:avLst/>
          </a:prstGeom>
          <a:solidFill>
            <a:srgbClr val="1565C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4206240"/>
            <a:ext cx="1645920" cy="164592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475488"/>
            <a:ext cx="914400" cy="914400"/>
          </a:xfrm>
          <a:prstGeom prst="ellipse">
            <a:avLst/>
          </a:prstGeom>
          <a:solidFill>
            <a:srgbClr val="FF8F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585216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5303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SchoolERP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81328" y="9692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School Management System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336" y="157276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Your School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402336" y="23042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Admission to Salary — All in One Place.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02336" y="3218688"/>
            <a:ext cx="1207008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32186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Admissions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682496" y="3218688"/>
            <a:ext cx="1207008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82496" y="32186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Fee Collection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962656" y="3218688"/>
            <a:ext cx="1207008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62656" y="32186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Teachers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242816" y="3218688"/>
            <a:ext cx="1207008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42816" y="32186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Salary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22976" y="3218688"/>
            <a:ext cx="1207008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22976" y="32186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803136" y="3218688"/>
            <a:ext cx="1207008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03136" y="32186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083296" y="3218688"/>
            <a:ext cx="1207008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83296" y="32186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Config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02336" y="37490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yourschool.erpdomain.com  |  Role-based Login  |  Multi-Session Support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4"/>
          <p:cNvSpPr/>
          <p:nvPr/>
        </p:nvSpPr>
        <p:spPr>
          <a:xfrm>
            <a:off x="0" y="4882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 ·  Fee Collection  ·  Teacher &amp; Salary  ·  WhatsApp Alerts  ·  Reports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Application Works — Navigation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877824"/>
            <a:ext cx="2194560" cy="640080"/>
          </a:xfrm>
          <a:prstGeom prst="roundRect">
            <a:avLst/>
          </a:prstGeom>
          <a:solidFill>
            <a:srgbClr val="0D2137"/>
          </a:solidFill>
          <a:ln w="12700">
            <a:solidFill>
              <a:srgbClr val="FF8F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87782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  (/login/)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35424" y="1536192"/>
            <a:ext cx="64008" cy="256032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7" name="Shape 5"/>
          <p:cNvSpPr/>
          <p:nvPr/>
        </p:nvSpPr>
        <p:spPr>
          <a:xfrm>
            <a:off x="3337560" y="1792224"/>
            <a:ext cx="2468880" cy="59436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922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 (/school/)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2816352"/>
            <a:ext cx="1170432" cy="9144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" y="2816352"/>
            <a:ext cx="11704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Config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/school/config/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7804" y="2395728"/>
            <a:ext cx="64008" cy="402336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6464" y="2816352"/>
            <a:ext cx="1170432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26464" y="2816352"/>
            <a:ext cx="11704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Admissions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/school/admission/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79676" y="2395728"/>
            <a:ext cx="64008" cy="402336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8336" y="2816352"/>
            <a:ext cx="1170432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88336" y="2816352"/>
            <a:ext cx="11704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Fees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/school/fees/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1548" y="2395728"/>
            <a:ext cx="64008" cy="402336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8" name="Shape 16"/>
          <p:cNvSpPr/>
          <p:nvPr/>
        </p:nvSpPr>
        <p:spPr>
          <a:xfrm>
            <a:off x="3950208" y="2816352"/>
            <a:ext cx="1170432" cy="9144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0208" y="2816352"/>
            <a:ext cx="11704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Teachers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/school/teachers/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03420" y="2395728"/>
            <a:ext cx="64008" cy="402336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2816352"/>
            <a:ext cx="1170432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0" y="2816352"/>
            <a:ext cx="11704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Salary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/school/salary/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65292" y="2395728"/>
            <a:ext cx="64008" cy="402336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3952" y="2816352"/>
            <a:ext cx="1170432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3952" y="2816352"/>
            <a:ext cx="11704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/school/whatsapp/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27164" y="2395728"/>
            <a:ext cx="64008" cy="402336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27" name="Shape 25"/>
          <p:cNvSpPr/>
          <p:nvPr/>
        </p:nvSpPr>
        <p:spPr>
          <a:xfrm>
            <a:off x="7735824" y="2816352"/>
            <a:ext cx="1170432" cy="9144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35824" y="2816352"/>
            <a:ext cx="11704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/school/reports/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289036" y="2395728"/>
            <a:ext cx="64008" cy="402336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85876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Start with Configuration (⚙️) before adding students or collecting fees.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Configuration   (⚙️  /school/config/)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4572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FIRST — before admissions or fee collection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4297680" cy="190195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960120"/>
            <a:ext cx="420624" cy="420624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1498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96012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Academic Session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134416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2025-26  (April → March)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2763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" y="16002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current academic session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88366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" y="185623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session start month (e.g. April)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139696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6928" y="211226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session end month (e.g. March)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395728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6928" y="236829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Session 2025-26 → April 2025 to March 2026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4663440" y="841248"/>
            <a:ext cx="4297680" cy="1901952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09744" y="960120"/>
            <a:ext cx="420624" cy="420624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1014984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21808" y="96012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Classes &amp; Monthly Fees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1371600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47488" y="134416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class: Class 1, Class 2 … Class 12</a:t>
            </a:r>
            <a:endParaRPr lang="en-US" sz="9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1627632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047488" y="16002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fee amount per class</a:t>
            </a:r>
            <a:endParaRPr lang="en-US" sz="9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1883664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047488" y="185623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Class 5 → ₹800 / month</a:t>
            </a:r>
            <a:endParaRPr lang="en-US" sz="9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8032" y="2139696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047488" y="211226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auto-applied when collecting payment</a:t>
            </a:r>
            <a:endParaRPr lang="en-US" sz="9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8032" y="2395728"/>
            <a:ext cx="164592" cy="16459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047488" y="236829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delete classes any time</a:t>
            </a:r>
            <a:endParaRPr lang="en-US" sz="900" dirty="0"/>
          </a:p>
        </p:txBody>
      </p:sp>
      <p:sp>
        <p:nvSpPr>
          <p:cNvPr id="34" name="Shape 20"/>
          <p:cNvSpPr/>
          <p:nvPr/>
        </p:nvSpPr>
        <p:spPr>
          <a:xfrm>
            <a:off x="182880" y="2871216"/>
            <a:ext cx="4297680" cy="1901952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21"/>
          <p:cNvSpPr/>
          <p:nvPr/>
        </p:nvSpPr>
        <p:spPr>
          <a:xfrm>
            <a:off x="329184" y="2990088"/>
            <a:ext cx="420624" cy="420624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3044952"/>
            <a:ext cx="310896" cy="310896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841248" y="29900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Exam Fees</a:t>
            </a:r>
            <a:endParaRPr lang="en-US" sz="115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472" y="3401568"/>
            <a:ext cx="164592" cy="164592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66928" y="337413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exam fees per class per session</a:t>
            </a:r>
            <a:endParaRPr lang="en-US" sz="9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72" y="3657600"/>
            <a:ext cx="164592" cy="164592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566928" y="363016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Half-yearly Exam → Class 8 → ₹500</a:t>
            </a:r>
            <a:endParaRPr lang="en-US" sz="90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472" y="3913632"/>
            <a:ext cx="164592" cy="164592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566928" y="38862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exams per class allowed</a:t>
            </a:r>
            <a:endParaRPr lang="en-US" sz="90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472" y="4169664"/>
            <a:ext cx="164592" cy="164592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566928" y="414223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selectable item in fee collection</a:t>
            </a:r>
            <a:endParaRPr lang="en-US" sz="900" dirty="0"/>
          </a:p>
        </p:txBody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7472" y="4425696"/>
            <a:ext cx="164592" cy="164592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566928" y="439826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monthly tuition fees</a:t>
            </a:r>
            <a:endParaRPr lang="en-US" sz="900" dirty="0"/>
          </a:p>
        </p:txBody>
      </p:sp>
      <p:sp>
        <p:nvSpPr>
          <p:cNvPr id="48" name="Shape 28"/>
          <p:cNvSpPr/>
          <p:nvPr/>
        </p:nvSpPr>
        <p:spPr>
          <a:xfrm>
            <a:off x="4663440" y="2871216"/>
            <a:ext cx="4297680" cy="190195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29"/>
          <p:cNvSpPr/>
          <p:nvPr/>
        </p:nvSpPr>
        <p:spPr>
          <a:xfrm>
            <a:off x="4809744" y="2990088"/>
            <a:ext cx="420624" cy="420624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64608" y="3044952"/>
            <a:ext cx="310896" cy="310896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5321808" y="29900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WhatsApp API</a:t>
            </a:r>
            <a:endParaRPr lang="en-US" sz="1150" dirty="0"/>
          </a:p>
        </p:txBody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28032" y="3401568"/>
            <a:ext cx="164592" cy="164592"/>
          </a:xfrm>
          <a:prstGeom prst="rect">
            <a:avLst/>
          </a:prstGeom>
        </p:spPr>
      </p:pic>
      <p:sp>
        <p:nvSpPr>
          <p:cNvPr id="53" name="Text 31"/>
          <p:cNvSpPr/>
          <p:nvPr/>
        </p:nvSpPr>
        <p:spPr>
          <a:xfrm>
            <a:off x="5047488" y="337413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ID  (from Meta Business)</a:t>
            </a:r>
            <a:endParaRPr lang="en-US" sz="900" dirty="0"/>
          </a:p>
        </p:txBody>
      </p:sp>
      <p:pic>
        <p:nvPicPr>
          <p:cNvPr id="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28032" y="3657600"/>
            <a:ext cx="164592" cy="164592"/>
          </a:xfrm>
          <a:prstGeom prst="rect">
            <a:avLst/>
          </a:prstGeom>
        </p:spPr>
      </p:pic>
      <p:sp>
        <p:nvSpPr>
          <p:cNvPr id="55" name="Text 32"/>
          <p:cNvSpPr/>
          <p:nvPr/>
        </p:nvSpPr>
        <p:spPr>
          <a:xfrm>
            <a:off x="5047488" y="363016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WABA ID  (WhatsApp Business Account ID)</a:t>
            </a:r>
            <a:endParaRPr lang="en-US" sz="900" dirty="0"/>
          </a:p>
        </p:txBody>
      </p:sp>
      <p:pic>
        <p:nvPicPr>
          <p:cNvPr id="5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28032" y="3913632"/>
            <a:ext cx="164592" cy="164592"/>
          </a:xfrm>
          <a:prstGeom prst="rect">
            <a:avLst/>
          </a:prstGeom>
        </p:spPr>
      </p:pic>
      <p:sp>
        <p:nvSpPr>
          <p:cNvPr id="57" name="Text 33"/>
          <p:cNvSpPr/>
          <p:nvPr/>
        </p:nvSpPr>
        <p:spPr>
          <a:xfrm>
            <a:off x="5047488" y="38862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 (permanent Meta token)</a:t>
            </a:r>
            <a:endParaRPr lang="en-US" sz="900" dirty="0"/>
          </a:p>
        </p:txBody>
      </p:sp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28032" y="4169664"/>
            <a:ext cx="164592" cy="164592"/>
          </a:xfrm>
          <a:prstGeom prst="rect">
            <a:avLst/>
          </a:prstGeom>
        </p:spPr>
      </p:pic>
      <p:sp>
        <p:nvSpPr>
          <p:cNvPr id="59" name="Text 34"/>
          <p:cNvSpPr/>
          <p:nvPr/>
        </p:nvSpPr>
        <p:spPr>
          <a:xfrm>
            <a:off x="5047488" y="414223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1: Fee reminder  (4 variables)</a:t>
            </a:r>
            <a:endParaRPr lang="en-US" sz="900" dirty="0"/>
          </a:p>
        </p:txBody>
      </p:sp>
      <p:pic>
        <p:nvPicPr>
          <p:cNvPr id="6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28032" y="4425696"/>
            <a:ext cx="164592" cy="164592"/>
          </a:xfrm>
          <a:prstGeom prst="rect">
            <a:avLst/>
          </a:prstGeom>
        </p:spPr>
      </p:pic>
      <p:sp>
        <p:nvSpPr>
          <p:cNvPr id="61" name="Text 35"/>
          <p:cNvSpPr/>
          <p:nvPr/>
        </p:nvSpPr>
        <p:spPr>
          <a:xfrm>
            <a:off x="5047488" y="439826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2: Announcements  (1 variable)</a:t>
            </a:r>
            <a:endParaRPr lang="en-US" sz="900" dirty="0"/>
          </a:p>
        </p:txBody>
      </p:sp>
      <p:sp>
        <p:nvSpPr>
          <p:cNvPr id="62" name="Text 36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188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Student Admissions   (📋  /school/admission/)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4261104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8595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Admission Form Fields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12435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432304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title-cased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0764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" y="15041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432304" y="15041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01368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" y="1764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432304" y="1764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Configuration classes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06197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5488" y="20253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Name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2432304" y="20253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title-cased</a:t>
            </a:r>
            <a:endParaRPr lang="en-US" sz="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322576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5488" y="22860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Name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2432304" y="22860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583180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75488" y="25466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WhatsApp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2432304" y="2546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10 digits</a:t>
            </a:r>
            <a:endParaRPr lang="en-US" sz="8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843784"/>
            <a:ext cx="146304" cy="14630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75488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2432304" y="2807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title-cased</a:t>
            </a:r>
            <a:endParaRPr lang="en-US" sz="8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104388"/>
            <a:ext cx="146304" cy="14630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75488" y="30678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/ Caste</a:t>
            </a:r>
            <a:endParaRPr lang="en-US" sz="850" dirty="0"/>
          </a:p>
        </p:txBody>
      </p:sp>
      <p:sp>
        <p:nvSpPr>
          <p:cNvPr id="30" name="Text 20"/>
          <p:cNvSpPr/>
          <p:nvPr/>
        </p:nvSpPr>
        <p:spPr>
          <a:xfrm>
            <a:off x="2432304" y="30678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Hindu, OBC, SC etc.</a:t>
            </a:r>
            <a:endParaRPr lang="en-US" sz="8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3364992"/>
            <a:ext cx="146304" cy="14630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75488" y="33284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</a:t>
            </a:r>
            <a:endParaRPr lang="en-US" sz="850" dirty="0"/>
          </a:p>
        </p:txBody>
      </p:sp>
      <p:sp>
        <p:nvSpPr>
          <p:cNvPr id="33" name="Text 22"/>
          <p:cNvSpPr/>
          <p:nvPr/>
        </p:nvSpPr>
        <p:spPr>
          <a:xfrm>
            <a:off x="2432304" y="3328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O+, A+, B+, AB+ etc.</a:t>
            </a:r>
            <a:endParaRPr lang="en-US" sz="8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3625596"/>
            <a:ext cx="146304" cy="14630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75488" y="35890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/ PEN No.</a:t>
            </a:r>
            <a:endParaRPr lang="en-US" sz="850" dirty="0"/>
          </a:p>
        </p:txBody>
      </p:sp>
      <p:sp>
        <p:nvSpPr>
          <p:cNvPr id="36" name="Text 24"/>
          <p:cNvSpPr/>
          <p:nvPr/>
        </p:nvSpPr>
        <p:spPr>
          <a:xfrm>
            <a:off x="2432304" y="35890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govt IDs</a:t>
            </a:r>
            <a:endParaRPr lang="en-US" sz="8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4320" y="3886200"/>
            <a:ext cx="146304" cy="14630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75488" y="3849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Opted?</a:t>
            </a:r>
            <a:endParaRPr lang="en-US" sz="850" dirty="0"/>
          </a:p>
        </p:txBody>
      </p:sp>
      <p:sp>
        <p:nvSpPr>
          <p:cNvPr id="39" name="Text 26"/>
          <p:cNvSpPr/>
          <p:nvPr/>
        </p:nvSpPr>
        <p:spPr>
          <a:xfrm>
            <a:off x="2432304" y="3849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enter amount/month</a:t>
            </a:r>
            <a:endParaRPr lang="en-US" sz="8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" y="4146804"/>
            <a:ext cx="146304" cy="14630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75488" y="41102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Months</a:t>
            </a:r>
            <a:endParaRPr lang="en-US" sz="850" dirty="0"/>
          </a:p>
        </p:txBody>
      </p:sp>
      <p:sp>
        <p:nvSpPr>
          <p:cNvPr id="42" name="Text 28"/>
          <p:cNvSpPr/>
          <p:nvPr/>
        </p:nvSpPr>
        <p:spPr>
          <a:xfrm>
            <a:off x="2432304" y="41102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0–12 months free (admission)</a:t>
            </a:r>
            <a:endParaRPr lang="en-US" sz="800" dirty="0"/>
          </a:p>
        </p:txBody>
      </p:sp>
      <p:sp>
        <p:nvSpPr>
          <p:cNvPr id="43" name="Shape 29"/>
          <p:cNvSpPr/>
          <p:nvPr/>
        </p:nvSpPr>
        <p:spPr>
          <a:xfrm>
            <a:off x="4608576" y="804672"/>
            <a:ext cx="4334256" cy="1243584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Text 30"/>
          <p:cNvSpPr/>
          <p:nvPr/>
        </p:nvSpPr>
        <p:spPr>
          <a:xfrm>
            <a:off x="4700016" y="8778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Auto Roll Number Generation</a:t>
            </a:r>
            <a:endParaRPr lang="en-US" sz="1100" dirty="0"/>
          </a:p>
        </p:txBody>
      </p:sp>
      <p:sp>
        <p:nvSpPr>
          <p:cNvPr id="45" name="Text 31"/>
          <p:cNvSpPr/>
          <p:nvPr/>
        </p:nvSpPr>
        <p:spPr>
          <a:xfrm>
            <a:off x="4700016" y="1188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{session-code} + {class-code} + {sequence}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4700016" y="1463040"/>
            <a:ext cx="4114800" cy="43891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4700016" y="14630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26  +  std  +  001   →   "26std001"</a:t>
            </a:r>
            <a:endParaRPr lang="en-US" sz="1050" dirty="0"/>
          </a:p>
        </p:txBody>
      </p:sp>
      <p:sp>
        <p:nvSpPr>
          <p:cNvPr id="48" name="Shape 34"/>
          <p:cNvSpPr/>
          <p:nvPr/>
        </p:nvSpPr>
        <p:spPr>
          <a:xfrm>
            <a:off x="4608576" y="2139696"/>
            <a:ext cx="4334256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Text 35"/>
          <p:cNvSpPr/>
          <p:nvPr/>
        </p:nvSpPr>
        <p:spPr>
          <a:xfrm>
            <a:off x="4700016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Student Actions (from Student List)</a:t>
            </a:r>
            <a:endParaRPr lang="en-US" sz="11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0016" y="2596896"/>
            <a:ext cx="146304" cy="146304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4901184" y="2560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→ moves to next class + session (e.g. Class 6, 2026-27)</a:t>
            </a:r>
            <a:endParaRPr lang="en-US" sz="85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0016" y="2852928"/>
            <a:ext cx="146304" cy="146304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4901184" y="2816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retained in same class, new session record created</a:t>
            </a:r>
            <a:endParaRPr lang="en-US" sz="85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0016" y="3108960"/>
            <a:ext cx="146304" cy="146304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4901184" y="3072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→ status set to 'Transferred', removed from active list</a:t>
            </a:r>
            <a:endParaRPr lang="en-US" sz="85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0016" y="3364992"/>
            <a:ext cx="146304" cy="146304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4901184" y="33284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update any field; Delete → blocked if fee records exist</a:t>
            </a:r>
            <a:endParaRPr lang="en-US" sz="850" dirty="0"/>
          </a:p>
        </p:txBody>
      </p:sp>
      <p:sp>
        <p:nvSpPr>
          <p:cNvPr id="58" name="Shape 40"/>
          <p:cNvSpPr/>
          <p:nvPr/>
        </p:nvSpPr>
        <p:spPr>
          <a:xfrm>
            <a:off x="4608576" y="3621024"/>
            <a:ext cx="4334256" cy="133502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9" name="Shape 41"/>
          <p:cNvSpPr/>
          <p:nvPr/>
        </p:nvSpPr>
        <p:spPr>
          <a:xfrm>
            <a:off x="4681728" y="3694176"/>
            <a:ext cx="420624" cy="420624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36592" y="3749040"/>
            <a:ext cx="310896" cy="310896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5157216" y="3712464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Admission Upload   (/school/admission/bulk-upload/)</a:t>
            </a:r>
            <a:endParaRPr lang="en-US" sz="105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0016" y="4133088"/>
            <a:ext cx="146304" cy="146304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4901184" y="4096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Excel template (pre-formatted with dropdowns)</a:t>
            </a:r>
            <a:endParaRPr lang="en-US" sz="850" dirty="0"/>
          </a:p>
        </p:txBody>
      </p:sp>
      <p:pic>
        <p:nvPicPr>
          <p:cNvPr id="6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00016" y="4352544"/>
            <a:ext cx="146304" cy="146304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4901184" y="4315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Fill: Name, DOB, Class, Father, Phone, Religion, Caste, Blood Group, etc.</a:t>
            </a:r>
            <a:endParaRPr lang="en-US" sz="850" dirty="0"/>
          </a:p>
        </p:txBody>
      </p:sp>
      <p:pic>
        <p:nvPicPr>
          <p:cNvPr id="6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00016" y="4572000"/>
            <a:ext cx="146304" cy="146304"/>
          </a:xfrm>
          <a:prstGeom prst="rect">
            <a:avLst/>
          </a:prstGeom>
        </p:spPr>
      </p:pic>
      <p:sp>
        <p:nvSpPr>
          <p:cNvPr id="67" name="Text 45"/>
          <p:cNvSpPr/>
          <p:nvPr/>
        </p:nvSpPr>
        <p:spPr>
          <a:xfrm>
            <a:off x="4901184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.xlsx → system validates &amp; imports all rows at once</a:t>
            </a:r>
            <a:endParaRPr lang="en-US" sz="850" dirty="0"/>
          </a:p>
        </p:txBody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00016" y="4791456"/>
            <a:ext cx="146304" cy="146304"/>
          </a:xfrm>
          <a:prstGeom prst="rect">
            <a:avLst/>
          </a:prstGeom>
        </p:spPr>
      </p:pic>
      <p:sp>
        <p:nvSpPr>
          <p:cNvPr id="69" name="Text 46"/>
          <p:cNvSpPr/>
          <p:nvPr/>
        </p:nvSpPr>
        <p:spPr>
          <a:xfrm>
            <a:off x="4901184" y="4754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rows exported separately with error remarks column</a:t>
            </a:r>
            <a:endParaRPr lang="en-US" sz="850" dirty="0"/>
          </a:p>
        </p:txBody>
      </p:sp>
      <p:sp>
        <p:nvSpPr>
          <p:cNvPr id="70" name="Text 47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188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Fee Collection   (💰  /school/fees/)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8814816" cy="6583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8595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Dashboard  — shows all active students with real-time fee status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12080" y="859536"/>
            <a:ext cx="11155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859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19088" y="859536"/>
            <a:ext cx="11155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859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26096" y="859536"/>
            <a:ext cx="11155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6096" y="859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554480"/>
            <a:ext cx="429768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4592" y="1554480"/>
            <a:ext cx="429768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609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— Manual  (/school/fees/collect/)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084832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Student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67712" y="20848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roll no, or father name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Fee Structure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67712" y="25054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shows monthly fee from Configuration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2926080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Month(s)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67712" y="29260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unpaid months shown (April → March)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346704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" y="3346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Transport?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67712" y="33467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transport fee per month if opted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3767328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Exam Fee?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67712" y="376732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exam fees set in Configuration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4187952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Auto-Calculated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67712" y="418795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entry — system computes total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4608576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256032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4360" y="4608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→ Receipt Created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67712" y="460857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no: FEE-2025-0001 (auto-generated)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81728" y="1554480"/>
            <a:ext cx="429768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81728" y="1554480"/>
            <a:ext cx="4297680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6" name="Text 44"/>
          <p:cNvSpPr/>
          <p:nvPr/>
        </p:nvSpPr>
        <p:spPr>
          <a:xfrm>
            <a:off x="4773168" y="1609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— Lump Sum  (/school/fees/collect/)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73168" y="2084832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8" name="Text 46"/>
          <p:cNvSpPr/>
          <p:nvPr/>
        </p:nvSpPr>
        <p:spPr>
          <a:xfrm>
            <a:off x="4773168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11496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Student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67728" y="208483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student search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73168" y="2505456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52" name="Text 50"/>
          <p:cNvSpPr/>
          <p:nvPr/>
        </p:nvSpPr>
        <p:spPr>
          <a:xfrm>
            <a:off x="4773168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11496" y="2505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Cash Amount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67728" y="25054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₹5,000 — any round figure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73168" y="2926080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56" name="Text 54"/>
          <p:cNvSpPr/>
          <p:nvPr/>
        </p:nvSpPr>
        <p:spPr>
          <a:xfrm>
            <a:off x="4773168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11496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Distribution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67728" y="2926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cash splits across months (AJAX)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73168" y="3346704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60" name="Text 58"/>
          <p:cNvSpPr/>
          <p:nvPr/>
        </p:nvSpPr>
        <p:spPr>
          <a:xfrm>
            <a:off x="4773168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11496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Months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67728" y="334670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→ May → June… until cash exhausted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73168" y="3767328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64" name="Text 62"/>
          <p:cNvSpPr/>
          <p:nvPr/>
        </p:nvSpPr>
        <p:spPr>
          <a:xfrm>
            <a:off x="477316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111496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Included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967728" y="37673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deducted per month if opted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73168" y="4187952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68" name="Text 66"/>
          <p:cNvSpPr/>
          <p:nvPr/>
        </p:nvSpPr>
        <p:spPr>
          <a:xfrm>
            <a:off x="4773168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111496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Fees Covered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967728" y="418795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cash goes to exam fees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73168" y="4608576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72" name="Text 70"/>
          <p:cNvSpPr/>
          <p:nvPr/>
        </p:nvSpPr>
        <p:spPr>
          <a:xfrm>
            <a:off x="4773168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11496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Balance Tracked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67728" y="460857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cash stored as advance for next payment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64592" y="5047488"/>
            <a:ext cx="8814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Export: fee_submission_SchoolName_2025-26.xlsx   |   🖨️  Print View available   |   ✏️  Edit past payments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5486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Teacher Management   (👨‍🏫  /school/teachers/)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Salary Processing   (💵  /school/salary/)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62272" y="768096"/>
            <a:ext cx="36576" cy="4352544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8229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Teacher Form Fields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1234440"/>
            <a:ext cx="146304" cy="146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" y="1188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194560" y="1188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title-cased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508760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" y="14630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194560" y="14630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/ Other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78308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0624" y="17373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2194560" y="17373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</a:t>
            </a:r>
            <a:endParaRPr lang="en-US" sz="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057400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0624" y="20116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2194560" y="20116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10 digits</a:t>
            </a:r>
            <a:endParaRPr lang="en-US" sz="8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" y="2331720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0624" y="2286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2194560" y="2286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" y="2606040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20624" y="2560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2194560" y="2560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address</a:t>
            </a:r>
            <a:endParaRPr lang="en-US" sz="8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56" y="2880360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20624" y="28346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850" dirty="0"/>
          </a:p>
        </p:txBody>
      </p:sp>
      <p:sp>
        <p:nvSpPr>
          <p:cNvPr id="28" name="Text 19"/>
          <p:cNvSpPr/>
          <p:nvPr/>
        </p:nvSpPr>
        <p:spPr>
          <a:xfrm>
            <a:off x="2194560" y="28346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B.Ed, M.Sc, M.Ed</a:t>
            </a:r>
            <a:endParaRPr lang="en-US" sz="8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" y="3154680"/>
            <a:ext cx="146304" cy="14630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20624" y="3108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Date</a:t>
            </a:r>
            <a:endParaRPr lang="en-US" sz="850" dirty="0"/>
          </a:p>
        </p:txBody>
      </p:sp>
      <p:sp>
        <p:nvSpPr>
          <p:cNvPr id="31" name="Text 21"/>
          <p:cNvSpPr/>
          <p:nvPr/>
        </p:nvSpPr>
        <p:spPr>
          <a:xfrm>
            <a:off x="2194560" y="31089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prorated salary calc.</a:t>
            </a:r>
            <a:endParaRPr lang="en-US" sz="8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" y="3429000"/>
            <a:ext cx="146304" cy="14630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20624" y="3383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</a:t>
            </a:r>
            <a:endParaRPr lang="en-US" sz="850" dirty="0"/>
          </a:p>
        </p:txBody>
      </p:sp>
      <p:sp>
        <p:nvSpPr>
          <p:cNvPr id="34" name="Text 23"/>
          <p:cNvSpPr/>
          <p:nvPr/>
        </p:nvSpPr>
        <p:spPr>
          <a:xfrm>
            <a:off x="2194560" y="33832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/ Part-time / Contract</a:t>
            </a:r>
            <a:endParaRPr lang="en-US" sz="8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456" y="3703320"/>
            <a:ext cx="146304" cy="14630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20624" y="3657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Salary</a:t>
            </a:r>
            <a:endParaRPr lang="en-US" sz="850" dirty="0"/>
          </a:p>
        </p:txBody>
      </p:sp>
      <p:sp>
        <p:nvSpPr>
          <p:cNvPr id="37" name="Text 25"/>
          <p:cNvSpPr/>
          <p:nvPr/>
        </p:nvSpPr>
        <p:spPr>
          <a:xfrm>
            <a:off x="2194560" y="3657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— base for salary processing</a:t>
            </a:r>
            <a:endParaRPr lang="en-US" sz="8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456" y="3977640"/>
            <a:ext cx="146304" cy="14630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20624" y="39319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40" name="Text 27"/>
          <p:cNvSpPr/>
          <p:nvPr/>
        </p:nvSpPr>
        <p:spPr>
          <a:xfrm>
            <a:off x="2194560" y="39319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Inactive / Resigned</a:t>
            </a:r>
            <a:endParaRPr lang="en-US" sz="850" dirty="0"/>
          </a:p>
        </p:txBody>
      </p:sp>
      <p:sp>
        <p:nvSpPr>
          <p:cNvPr id="41" name="Shape 28"/>
          <p:cNvSpPr/>
          <p:nvPr/>
        </p:nvSpPr>
        <p:spPr>
          <a:xfrm>
            <a:off x="164592" y="4261104"/>
            <a:ext cx="4206240" cy="6400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256032" y="43525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🔢  Auto Employee ID:  TCH-2025-0001</a:t>
            </a:r>
            <a:endParaRPr lang="en-US" sz="1100" dirty="0"/>
          </a:p>
        </p:txBody>
      </p:sp>
      <p:sp>
        <p:nvSpPr>
          <p:cNvPr id="43" name="Text 30"/>
          <p:cNvSpPr/>
          <p:nvPr/>
        </p:nvSpPr>
        <p:spPr>
          <a:xfrm>
            <a:off x="256032" y="45902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Teacher: enter increment % → salary updated, moved to next session</a:t>
            </a:r>
            <a:endParaRPr lang="en-US" sz="850" dirty="0"/>
          </a:p>
        </p:txBody>
      </p:sp>
      <p:sp>
        <p:nvSpPr>
          <p:cNvPr id="44" name="Text 31"/>
          <p:cNvSpPr/>
          <p:nvPr/>
        </p:nvSpPr>
        <p:spPr>
          <a:xfrm>
            <a:off x="4608576" y="8229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Salary Dashboard &amp; Payment Flow</a:t>
            </a:r>
            <a:endParaRPr lang="en-US" sz="1200" dirty="0"/>
          </a:p>
        </p:txBody>
      </p:sp>
      <p:sp>
        <p:nvSpPr>
          <p:cNvPr id="45" name="Shape 32"/>
          <p:cNvSpPr/>
          <p:nvPr/>
        </p:nvSpPr>
        <p:spPr>
          <a:xfrm>
            <a:off x="4608576" y="1207008"/>
            <a:ext cx="1335024" cy="5486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4608576" y="1207008"/>
            <a:ext cx="1335024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Due</a:t>
            </a:r>
            <a:endParaRPr lang="en-US" sz="850" dirty="0"/>
          </a:p>
        </p:txBody>
      </p:sp>
      <p:sp>
        <p:nvSpPr>
          <p:cNvPr id="47" name="Shape 34"/>
          <p:cNvSpPr/>
          <p:nvPr/>
        </p:nvSpPr>
        <p:spPr>
          <a:xfrm>
            <a:off x="6053328" y="1207008"/>
            <a:ext cx="1335024" cy="5486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6053328" y="1207008"/>
            <a:ext cx="1335024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Paid</a:t>
            </a:r>
            <a:endParaRPr lang="en-US" sz="850" dirty="0"/>
          </a:p>
        </p:txBody>
      </p:sp>
      <p:sp>
        <p:nvSpPr>
          <p:cNvPr id="49" name="Shape 36"/>
          <p:cNvSpPr/>
          <p:nvPr/>
        </p:nvSpPr>
        <p:spPr>
          <a:xfrm>
            <a:off x="7498080" y="1207008"/>
            <a:ext cx="1335024" cy="5486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7498080" y="1207008"/>
            <a:ext cx="1335024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Salary</a:t>
            </a:r>
            <a:endParaRPr lang="en-US" sz="850" dirty="0"/>
          </a:p>
        </p:txBody>
      </p:sp>
      <p:sp>
        <p:nvSpPr>
          <p:cNvPr id="51" name="Text 38"/>
          <p:cNvSpPr/>
          <p:nvPr/>
        </p:nvSpPr>
        <p:spPr>
          <a:xfrm>
            <a:off x="4608576" y="18836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Pay Salary  (/school/salary/pay/)</a:t>
            </a:r>
            <a:endParaRPr lang="en-US" sz="1050" dirty="0"/>
          </a:p>
        </p:txBody>
      </p:sp>
      <p:sp>
        <p:nvSpPr>
          <p:cNvPr id="52" name="Shape 39"/>
          <p:cNvSpPr/>
          <p:nvPr/>
        </p:nvSpPr>
        <p:spPr>
          <a:xfrm>
            <a:off x="4626864" y="2231136"/>
            <a:ext cx="256032" cy="256032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53" name="Text 40"/>
          <p:cNvSpPr/>
          <p:nvPr/>
        </p:nvSpPr>
        <p:spPr>
          <a:xfrm>
            <a:off x="4626864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750" dirty="0"/>
          </a:p>
        </p:txBody>
      </p:sp>
      <p:sp>
        <p:nvSpPr>
          <p:cNvPr id="54" name="Text 41"/>
          <p:cNvSpPr/>
          <p:nvPr/>
        </p:nvSpPr>
        <p:spPr>
          <a:xfrm>
            <a:off x="4956048" y="22311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Teacher</a:t>
            </a:r>
            <a:endParaRPr lang="en-US" sz="900" dirty="0"/>
          </a:p>
        </p:txBody>
      </p:sp>
      <p:sp>
        <p:nvSpPr>
          <p:cNvPr id="55" name="Text 42"/>
          <p:cNvSpPr/>
          <p:nvPr/>
        </p:nvSpPr>
        <p:spPr>
          <a:xfrm>
            <a:off x="6638544" y="223113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active teachers shown</a:t>
            </a:r>
            <a:endParaRPr lang="en-US" sz="820" dirty="0"/>
          </a:p>
        </p:txBody>
      </p:sp>
      <p:sp>
        <p:nvSpPr>
          <p:cNvPr id="56" name="Shape 43"/>
          <p:cNvSpPr/>
          <p:nvPr/>
        </p:nvSpPr>
        <p:spPr>
          <a:xfrm>
            <a:off x="4626864" y="2615184"/>
            <a:ext cx="256032" cy="256032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57" name="Text 44"/>
          <p:cNvSpPr/>
          <p:nvPr/>
        </p:nvSpPr>
        <p:spPr>
          <a:xfrm>
            <a:off x="4626864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750" dirty="0"/>
          </a:p>
        </p:txBody>
      </p:sp>
      <p:sp>
        <p:nvSpPr>
          <p:cNvPr id="58" name="Text 45"/>
          <p:cNvSpPr/>
          <p:nvPr/>
        </p:nvSpPr>
        <p:spPr>
          <a:xfrm>
            <a:off x="4956048" y="2615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Unpaid Months</a:t>
            </a:r>
            <a:endParaRPr lang="en-US" sz="900" dirty="0"/>
          </a:p>
        </p:txBody>
      </p:sp>
      <p:sp>
        <p:nvSpPr>
          <p:cNvPr id="59" name="Text 46"/>
          <p:cNvSpPr/>
          <p:nvPr/>
        </p:nvSpPr>
        <p:spPr>
          <a:xfrm>
            <a:off x="6638544" y="261518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only months not yet paid</a:t>
            </a:r>
            <a:endParaRPr lang="en-US" sz="820" dirty="0"/>
          </a:p>
        </p:txBody>
      </p:sp>
      <p:sp>
        <p:nvSpPr>
          <p:cNvPr id="60" name="Shape 47"/>
          <p:cNvSpPr/>
          <p:nvPr/>
        </p:nvSpPr>
        <p:spPr>
          <a:xfrm>
            <a:off x="4626864" y="2999232"/>
            <a:ext cx="256032" cy="256032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61" name="Text 48"/>
          <p:cNvSpPr/>
          <p:nvPr/>
        </p:nvSpPr>
        <p:spPr>
          <a:xfrm>
            <a:off x="4626864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750" dirty="0"/>
          </a:p>
        </p:txBody>
      </p:sp>
      <p:sp>
        <p:nvSpPr>
          <p:cNvPr id="62" name="Text 49"/>
          <p:cNvSpPr/>
          <p:nvPr/>
        </p:nvSpPr>
        <p:spPr>
          <a:xfrm>
            <a:off x="4956048" y="2999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Prorated First Month</a:t>
            </a:r>
            <a:endParaRPr lang="en-US" sz="900" dirty="0"/>
          </a:p>
        </p:txBody>
      </p:sp>
      <p:sp>
        <p:nvSpPr>
          <p:cNvPr id="63" name="Text 50"/>
          <p:cNvSpPr/>
          <p:nvPr/>
        </p:nvSpPr>
        <p:spPr>
          <a:xfrm>
            <a:off x="6638544" y="299923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joined mid-month → (worked days / total days) × salary</a:t>
            </a:r>
            <a:endParaRPr lang="en-US" sz="820" dirty="0"/>
          </a:p>
        </p:txBody>
      </p:sp>
      <p:sp>
        <p:nvSpPr>
          <p:cNvPr id="64" name="Shape 51"/>
          <p:cNvSpPr/>
          <p:nvPr/>
        </p:nvSpPr>
        <p:spPr>
          <a:xfrm>
            <a:off x="4626864" y="3383280"/>
            <a:ext cx="256032" cy="256032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65" name="Text 52"/>
          <p:cNvSpPr/>
          <p:nvPr/>
        </p:nvSpPr>
        <p:spPr>
          <a:xfrm>
            <a:off x="4626864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750" dirty="0"/>
          </a:p>
        </p:txBody>
      </p:sp>
      <p:sp>
        <p:nvSpPr>
          <p:cNvPr id="66" name="Text 53"/>
          <p:cNvSpPr/>
          <p:nvPr/>
        </p:nvSpPr>
        <p:spPr>
          <a:xfrm>
            <a:off x="4956048" y="3383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Month(s) to Pay</a:t>
            </a:r>
            <a:endParaRPr lang="en-US" sz="900" dirty="0"/>
          </a:p>
        </p:txBody>
      </p:sp>
      <p:sp>
        <p:nvSpPr>
          <p:cNvPr id="67" name="Text 54"/>
          <p:cNvSpPr/>
          <p:nvPr/>
        </p:nvSpPr>
        <p:spPr>
          <a:xfrm>
            <a:off x="6638544" y="338328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Multi-select, amount auto-calculated</a:t>
            </a:r>
            <a:endParaRPr lang="en-US" sz="820" dirty="0"/>
          </a:p>
        </p:txBody>
      </p:sp>
      <p:sp>
        <p:nvSpPr>
          <p:cNvPr id="68" name="Shape 55"/>
          <p:cNvSpPr/>
          <p:nvPr/>
        </p:nvSpPr>
        <p:spPr>
          <a:xfrm>
            <a:off x="4626864" y="3767328"/>
            <a:ext cx="256032" cy="256032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69" name="Text 56"/>
          <p:cNvSpPr/>
          <p:nvPr/>
        </p:nvSpPr>
        <p:spPr>
          <a:xfrm>
            <a:off x="4626864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750" dirty="0"/>
          </a:p>
        </p:txBody>
      </p:sp>
      <p:sp>
        <p:nvSpPr>
          <p:cNvPr id="70" name="Text 57"/>
          <p:cNvSpPr/>
          <p:nvPr/>
        </p:nvSpPr>
        <p:spPr>
          <a:xfrm>
            <a:off x="4956048" y="3767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→ Receipt</a:t>
            </a:r>
            <a:endParaRPr lang="en-US" sz="900" dirty="0"/>
          </a:p>
        </p:txBody>
      </p:sp>
      <p:sp>
        <p:nvSpPr>
          <p:cNvPr id="71" name="Text 58"/>
          <p:cNvSpPr/>
          <p:nvPr/>
        </p:nvSpPr>
        <p:spPr>
          <a:xfrm>
            <a:off x="6638544" y="376732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no: SAL-2025-0001 (auto-generated)</a:t>
            </a:r>
            <a:endParaRPr lang="en-US" sz="820" dirty="0"/>
          </a:p>
        </p:txBody>
      </p:sp>
      <p:sp>
        <p:nvSpPr>
          <p:cNvPr id="72" name="Shape 59"/>
          <p:cNvSpPr/>
          <p:nvPr/>
        </p:nvSpPr>
        <p:spPr>
          <a:xfrm>
            <a:off x="4626864" y="4151376"/>
            <a:ext cx="256032" cy="256032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73" name="Text 60"/>
          <p:cNvSpPr/>
          <p:nvPr/>
        </p:nvSpPr>
        <p:spPr>
          <a:xfrm>
            <a:off x="4626864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750" dirty="0"/>
          </a:p>
        </p:txBody>
      </p:sp>
      <p:sp>
        <p:nvSpPr>
          <p:cNvPr id="74" name="Text 61"/>
          <p:cNvSpPr/>
          <p:nvPr/>
        </p:nvSpPr>
        <p:spPr>
          <a:xfrm>
            <a:off x="4956048" y="4151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History</a:t>
            </a:r>
            <a:endParaRPr lang="en-US" sz="900" dirty="0"/>
          </a:p>
        </p:txBody>
      </p:sp>
      <p:sp>
        <p:nvSpPr>
          <p:cNvPr id="75" name="Text 62"/>
          <p:cNvSpPr/>
          <p:nvPr/>
        </p:nvSpPr>
        <p:spPr>
          <a:xfrm>
            <a:off x="6638544" y="415137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per teacher per session</a:t>
            </a:r>
            <a:endParaRPr lang="en-US" sz="820" dirty="0"/>
          </a:p>
        </p:txBody>
      </p:sp>
      <p:sp>
        <p:nvSpPr>
          <p:cNvPr id="76" name="Shape 63"/>
          <p:cNvSpPr/>
          <p:nvPr/>
        </p:nvSpPr>
        <p:spPr>
          <a:xfrm>
            <a:off x="4608576" y="4517136"/>
            <a:ext cx="4334256" cy="402336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7" name="Text 64"/>
          <p:cNvSpPr/>
          <p:nvPr/>
        </p:nvSpPr>
        <p:spPr>
          <a:xfrm>
            <a:off x="4700016" y="4517136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Filter: search by teacher name / employee ID   |   Filter: Paid / Pending</a:t>
            </a:r>
            <a:endParaRPr lang="en-US" sz="900" dirty="0"/>
          </a:p>
        </p:txBody>
      </p:sp>
      <p:sp>
        <p:nvSpPr>
          <p:cNvPr id="78" name="Text 65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188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WhatsApp Communication   (📱  /school/whatsapp/)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462272" y="768096"/>
            <a:ext cx="36576" cy="36576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" y="786384"/>
            <a:ext cx="4206240" cy="363931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86384"/>
            <a:ext cx="4206240" cy="420624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822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Fee Reminders   (/school/whatsapp/)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353312"/>
            <a:ext cx="146304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31673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only students with PENDING fees (balance &gt; 0)</a:t>
            </a:r>
            <a:endParaRPr lang="en-US" sz="88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27632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159105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Calculates:  Monthly Fee × Months Elapsed  —  Amount Paid</a:t>
            </a:r>
            <a:endParaRPr lang="en-US" sz="88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901952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86537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'Send Reminder' → WhatsApp message sent instantly</a:t>
            </a:r>
            <a:endParaRPr lang="en-US" sz="88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176272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213969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Meta Cloud API  (graph.facebook.com/v25.0/)</a:t>
            </a:r>
            <a:endParaRPr lang="en-US" sz="880" dirty="0"/>
          </a:p>
        </p:txBody>
      </p:sp>
      <p:sp>
        <p:nvSpPr>
          <p:cNvPr id="17" name="Shape 11"/>
          <p:cNvSpPr/>
          <p:nvPr/>
        </p:nvSpPr>
        <p:spPr>
          <a:xfrm>
            <a:off x="256032" y="2487168"/>
            <a:ext cx="4023360" cy="1792224"/>
          </a:xfrm>
          <a:prstGeom prst="roundRect">
            <a:avLst/>
          </a:prstGeom>
          <a:solidFill>
            <a:srgbClr val="DCF8C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47472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WhatsApp Template (fee_reminder)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347472" y="2834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Parent, your child {student_name} (Roll: {roll_number})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fee balance of {balance} at {school_name}.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Kindly clear fees at the earliest. Thank you."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347472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Variables: {{1}} Name  {{2}} Roll  {{3}} Balance  {{4}} School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4608576" y="786384"/>
            <a:ext cx="4334256" cy="363931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08576" y="786384"/>
            <a:ext cx="4334256" cy="42062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Text 17"/>
          <p:cNvSpPr/>
          <p:nvPr/>
        </p:nvSpPr>
        <p:spPr>
          <a:xfrm>
            <a:off x="4700016" y="822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Announcements   (/school/announcement/)</a:t>
            </a:r>
            <a:endParaRPr lang="en-US" sz="10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1353312"/>
            <a:ext cx="146304" cy="1463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01184" y="1316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any custom message to parent's WhatsApp number</a:t>
            </a:r>
            <a:endParaRPr lang="en-US" sz="88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1627632"/>
            <a:ext cx="146304" cy="1463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01184" y="1591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individual student OR all students of a class</a:t>
            </a:r>
            <a:endParaRPr lang="en-US" sz="88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1901952"/>
            <a:ext cx="146304" cy="1463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901184" y="18653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announcement text freely (1 variable template)</a:t>
            </a:r>
            <a:endParaRPr lang="en-US" sz="88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016" y="2176272"/>
            <a:ext cx="146304" cy="14630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901184" y="21396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Holiday notice, exam schedule, event reminder</a:t>
            </a:r>
            <a:endParaRPr lang="en-US" sz="88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2450592"/>
            <a:ext cx="146304" cy="14630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901184" y="2414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'announcement_template' (separate from fee template)</a:t>
            </a:r>
            <a:endParaRPr lang="en-US" sz="880" dirty="0"/>
          </a:p>
        </p:txBody>
      </p:sp>
      <p:sp>
        <p:nvSpPr>
          <p:cNvPr id="34" name="Shape 23"/>
          <p:cNvSpPr/>
          <p:nvPr/>
        </p:nvSpPr>
        <p:spPr>
          <a:xfrm>
            <a:off x="4700016" y="2724912"/>
            <a:ext cx="4151376" cy="1572768"/>
          </a:xfrm>
          <a:prstGeom prst="roundRect">
            <a:avLst/>
          </a:prstGeom>
          <a:solidFill>
            <a:srgbClr val="DCF8C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4791456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WhatsApp Template (announcement)</a:t>
            </a:r>
            <a:endParaRPr lang="en-US" sz="950" dirty="0"/>
          </a:p>
        </p:txBody>
      </p:sp>
      <p:sp>
        <p:nvSpPr>
          <p:cNvPr id="36" name="Text 25"/>
          <p:cNvSpPr/>
          <p:nvPr/>
        </p:nvSpPr>
        <p:spPr>
          <a:xfrm>
            <a:off x="4791456" y="3072384"/>
            <a:ext cx="3931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Parent,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{your_custom_message}"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Variable: {{1}} → your typed text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164592" y="4535424"/>
            <a:ext cx="8814816" cy="438912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292608" y="4535424"/>
            <a:ext cx="855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Pre-requisite: Add Phone Number ID, WABA ID, Access Token, and both template names in  ⚙️ Configuration → WhatsApp section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188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Reports   (📊  /school/reports/)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462272" y="768096"/>
            <a:ext cx="36576" cy="3785616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" y="786384"/>
            <a:ext cx="4206240" cy="3767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86384"/>
            <a:ext cx="4206240" cy="40233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8229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Admission Report   (/reports/admissions/)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1280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09344"/>
            <a:ext cx="146304" cy="146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From / Date To  (Admission date range)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6537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(filter by specific class)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56032" y="2157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Columns: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487168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No., Name, Date of Birth, Class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743200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Session, Religion, Caste, Address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2999232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7200" y="2962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Date, Father, Mother, WhatsApp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3255264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57200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Group, Previous School, Aadhaar, PEN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" y="3511296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7200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Opted, Transport Amount, Status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256032" y="3877056"/>
            <a:ext cx="1956816" cy="512064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256032" y="3877056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Export Excel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2322576" y="3877056"/>
            <a:ext cx="1956816" cy="512064"/>
          </a:xfrm>
          <a:prstGeom prst="round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2322576" y="3877056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 View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608576" y="786384"/>
            <a:ext cx="4334256" cy="3767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4608576" y="786384"/>
            <a:ext cx="4334256" cy="40233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1" name="Text 22"/>
          <p:cNvSpPr/>
          <p:nvPr/>
        </p:nvSpPr>
        <p:spPr>
          <a:xfrm>
            <a:off x="4700016" y="8229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Fee Report   (/reports/fees/)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4700016" y="12801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016" y="1609344"/>
            <a:ext cx="146304" cy="1463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901184" y="1572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From / Date To  (Payment date range)</a:t>
            </a:r>
            <a:endParaRPr lang="en-US" sz="9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1865376"/>
            <a:ext cx="146304" cy="14630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901184" y="18288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(filter by specific class)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4700016" y="21579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Columns:</a:t>
            </a:r>
            <a:endParaRPr lang="en-US" sz="9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2487168"/>
            <a:ext cx="146304" cy="14630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901184" y="24505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No.  (auto: FEE-2025-0001)</a:t>
            </a:r>
            <a:endParaRPr lang="en-US" sz="9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2743200"/>
            <a:ext cx="146304" cy="146304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4901184" y="27066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Date, Student Name, Roll No., Class</a:t>
            </a:r>
            <a:endParaRPr lang="en-US" sz="9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0016" y="2999232"/>
            <a:ext cx="146304" cy="146304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4901184" y="29626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</a:t>
            </a:r>
            <a:endParaRPr lang="en-US" sz="9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0016" y="3255264"/>
            <a:ext cx="146304" cy="146304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4901184" y="32186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Paid  (April, May, June…)</a:t>
            </a:r>
            <a:endParaRPr lang="en-US" sz="9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0016" y="3511296"/>
            <a:ext cx="146304" cy="146304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4901184" y="3474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Paid (₹)  |  TOTAL at bottom row</a:t>
            </a:r>
            <a:endParaRPr lang="en-US" sz="900" dirty="0"/>
          </a:p>
        </p:txBody>
      </p:sp>
      <p:sp>
        <p:nvSpPr>
          <p:cNvPr id="48" name="Shape 32"/>
          <p:cNvSpPr/>
          <p:nvPr/>
        </p:nvSpPr>
        <p:spPr>
          <a:xfrm>
            <a:off x="4700016" y="3877056"/>
            <a:ext cx="1956816" cy="512064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33"/>
          <p:cNvSpPr/>
          <p:nvPr/>
        </p:nvSpPr>
        <p:spPr>
          <a:xfrm>
            <a:off x="4700016" y="3877056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Export Excel</a:t>
            </a:r>
            <a:endParaRPr lang="en-US" sz="1000" dirty="0"/>
          </a:p>
        </p:txBody>
      </p:sp>
      <p:sp>
        <p:nvSpPr>
          <p:cNvPr id="50" name="Shape 34"/>
          <p:cNvSpPr/>
          <p:nvPr/>
        </p:nvSpPr>
        <p:spPr>
          <a:xfrm>
            <a:off x="6766560" y="3877056"/>
            <a:ext cx="2084832" cy="512064"/>
          </a:xfrm>
          <a:prstGeom prst="round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51" name="Text 35"/>
          <p:cNvSpPr/>
          <p:nvPr/>
        </p:nvSpPr>
        <p:spPr>
          <a:xfrm>
            <a:off x="6766560" y="387705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 View</a:t>
            </a:r>
            <a:endParaRPr lang="en-US" sz="1000" dirty="0"/>
          </a:p>
        </p:txBody>
      </p:sp>
      <p:sp>
        <p:nvSpPr>
          <p:cNvPr id="52" name="Text 36"/>
          <p:cNvSpPr/>
          <p:nvPr/>
        </p:nvSpPr>
        <p:spPr>
          <a:xfrm>
            <a:off x="164592" y="4700016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Fee Export filename:  fees_{date_from}_to_{date_to}.xlsx   |   Admission Export:  admissions_{date_from}_to_{date_to}.xlsx</a:t>
            </a:r>
            <a:endParaRPr lang="en-US" sz="850" dirty="0"/>
          </a:p>
        </p:txBody>
      </p:sp>
      <p:sp>
        <p:nvSpPr>
          <p:cNvPr id="53" name="Text 37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548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Dashboard   (📊  /school/)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school owner sees every day when they log 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" y="822960"/>
            <a:ext cx="4206240" cy="102412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Count ]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1554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students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academic session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206240" cy="1024128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9744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Fee Records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Count ]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9744" y="1554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have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fee balance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7744" y="1956816"/>
            <a:ext cx="2816352" cy="786384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22311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1956816"/>
            <a:ext cx="2816352" cy="78638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28416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Track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28416" y="22311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Submission 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63056" y="1956816"/>
            <a:ext cx="2816352" cy="786384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91072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Fees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91072" y="22311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" y="2852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 — Step by Step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1168" y="3236976"/>
            <a:ext cx="1188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310128"/>
            <a:ext cx="274320" cy="274320"/>
          </a:xfrm>
          <a:prstGeom prst="ellipse">
            <a:avLst/>
          </a:prstGeom>
          <a:solidFill>
            <a:srgbClr val="455A64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6032" y="363931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Config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6032" y="41148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session,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fees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389888" y="3877056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44752" y="3236976"/>
            <a:ext cx="1188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901952" y="3310128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1901952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99616" y="363931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Admit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99616" y="41148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Add/bulk upload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633472" y="3877056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88336" y="3236976"/>
            <a:ext cx="1188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45536" y="331012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3145536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0" y="363931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Collect Fee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0" y="41148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Sum mode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877056" y="3877056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31920" y="3236976"/>
            <a:ext cx="1188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89120" y="3310128"/>
            <a:ext cx="274320" cy="27432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86784" y="363931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Teachers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986784" y="41148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teachers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employment type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5120640" y="3877056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75504" y="3236976"/>
            <a:ext cx="1188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632704" y="3310128"/>
            <a:ext cx="274320" cy="27432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50" name="Text 48"/>
          <p:cNvSpPr/>
          <p:nvPr/>
        </p:nvSpPr>
        <p:spPr>
          <a:xfrm>
            <a:off x="5632704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30368" y="363931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Salary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30368" y="41148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monthly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6364224" y="3877056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19088" y="3236976"/>
            <a:ext cx="1188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76288" y="3310128"/>
            <a:ext cx="274320" cy="27432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56" name="Text 54"/>
          <p:cNvSpPr/>
          <p:nvPr/>
        </p:nvSpPr>
        <p:spPr>
          <a:xfrm>
            <a:off x="6876288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73952" y="363931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73952" y="41148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reminders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announcements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7607808" y="3877056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662672" y="3236976"/>
            <a:ext cx="1188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119872" y="3310128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62" name="Text 60"/>
          <p:cNvSpPr/>
          <p:nvPr/>
        </p:nvSpPr>
        <p:spPr>
          <a:xfrm>
            <a:off x="8119872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717536" y="363931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17536" y="41148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Print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188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School Needs to Provide — Getting Started Checklist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2852928" cy="2048256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914400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692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9144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Academic Session Info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26464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13533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academic session  (e.g. 2025-26)</a:t>
            </a:r>
            <a:endParaRPr lang="en-US" sz="83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73936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" y="17007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 month  (e.g. April)</a:t>
            </a:r>
            <a:endParaRPr lang="en-US" sz="83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121408"/>
            <a:ext cx="137160" cy="1371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5488" y="204825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end month  (e.g. March)</a:t>
            </a:r>
            <a:endParaRPr lang="en-US" sz="830" dirty="0"/>
          </a:p>
        </p:txBody>
      </p:sp>
      <p:sp>
        <p:nvSpPr>
          <p:cNvPr id="15" name="Shape 9"/>
          <p:cNvSpPr/>
          <p:nvPr/>
        </p:nvSpPr>
        <p:spPr>
          <a:xfrm>
            <a:off x="3163824" y="804672"/>
            <a:ext cx="2852928" cy="2048256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291840" y="914400"/>
            <a:ext cx="384048" cy="384048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96926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49040" y="9144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Classes &amp; Fees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1426464"/>
            <a:ext cx="137160" cy="1371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474720" y="13533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classes  (e.g. Class 1 to Class 12)</a:t>
            </a:r>
            <a:endParaRPr lang="en-US" sz="83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1773936"/>
            <a:ext cx="137160" cy="1371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474720" y="17007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fee per class  (e.g. Class 5 → ₹800)</a:t>
            </a:r>
            <a:endParaRPr lang="en-US" sz="83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2121408"/>
            <a:ext cx="137160" cy="13716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474720" y="204825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 names &amp; amounts per class (if any)</a:t>
            </a:r>
            <a:endParaRPr lang="en-US" sz="830" dirty="0"/>
          </a:p>
        </p:txBody>
      </p:sp>
      <p:sp>
        <p:nvSpPr>
          <p:cNvPr id="25" name="Shape 15"/>
          <p:cNvSpPr/>
          <p:nvPr/>
        </p:nvSpPr>
        <p:spPr>
          <a:xfrm>
            <a:off x="6163056" y="804672"/>
            <a:ext cx="2852928" cy="2048256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6291072" y="914400"/>
            <a:ext cx="384048" cy="384048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969264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748272" y="9144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Student Information</a:t>
            </a:r>
            <a:endParaRPr lang="en-US" sz="9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072" y="1426464"/>
            <a:ext cx="137160" cy="13716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473952" y="13533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Name, Date of Birth, Class</a:t>
            </a:r>
            <a:endParaRPr lang="en-US" sz="83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1773936"/>
            <a:ext cx="137160" cy="13716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473952" y="17007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Name, Mother Name, WhatsApp No. (10 digits)</a:t>
            </a:r>
            <a:endParaRPr lang="en-US" sz="83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1072" y="2121408"/>
            <a:ext cx="137160" cy="13716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473952" y="204825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Religion, Caste, Blood Group, Aadhaar, PEN</a:t>
            </a:r>
            <a:endParaRPr lang="en-US" sz="83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1072" y="2468880"/>
            <a:ext cx="137160" cy="13716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473952" y="239572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opted? (Yes/No + amount), Discount months</a:t>
            </a:r>
            <a:endParaRPr lang="en-US" sz="830" dirty="0"/>
          </a:p>
        </p:txBody>
      </p:sp>
      <p:sp>
        <p:nvSpPr>
          <p:cNvPr id="37" name="Shape 22"/>
          <p:cNvSpPr/>
          <p:nvPr/>
        </p:nvSpPr>
        <p:spPr>
          <a:xfrm>
            <a:off x="164592" y="2980944"/>
            <a:ext cx="2852928" cy="204825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23"/>
          <p:cNvSpPr/>
          <p:nvPr/>
        </p:nvSpPr>
        <p:spPr>
          <a:xfrm>
            <a:off x="292608" y="3090672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472" y="3145536"/>
            <a:ext cx="274320" cy="27432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749808" y="30906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Teacher Information</a:t>
            </a:r>
            <a:endParaRPr lang="en-US" sz="95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2608" y="3602736"/>
            <a:ext cx="137160" cy="13716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75488" y="35295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Gender, Date of Birth, Phone, Qualification</a:t>
            </a:r>
            <a:endParaRPr lang="en-US" sz="83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608" y="3950208"/>
            <a:ext cx="137160" cy="13716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475488" y="387705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Date, Employment Type, Monthly Salary</a:t>
            </a:r>
            <a:endParaRPr lang="en-US" sz="830" dirty="0"/>
          </a:p>
        </p:txBody>
      </p:sp>
      <p:sp>
        <p:nvSpPr>
          <p:cNvPr id="45" name="Shape 27"/>
          <p:cNvSpPr/>
          <p:nvPr/>
        </p:nvSpPr>
        <p:spPr>
          <a:xfrm>
            <a:off x="3163824" y="2980944"/>
            <a:ext cx="2852928" cy="204825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28"/>
          <p:cNvSpPr/>
          <p:nvPr/>
        </p:nvSpPr>
        <p:spPr>
          <a:xfrm>
            <a:off x="3291840" y="3090672"/>
            <a:ext cx="384048" cy="384048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46704" y="3145536"/>
            <a:ext cx="274320" cy="274320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3749040" y="30906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WhatsApp API Credentials  (from Meta)</a:t>
            </a:r>
            <a:endParaRPr lang="en-US" sz="950" dirty="0"/>
          </a:p>
        </p:txBody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91840" y="3602736"/>
            <a:ext cx="137160" cy="137160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3474720" y="35295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ID  (WhatsApp sender number)</a:t>
            </a:r>
            <a:endParaRPr lang="en-US" sz="830" dirty="0"/>
          </a:p>
        </p:txBody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91840" y="3950208"/>
            <a:ext cx="137160" cy="137160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3474720" y="387705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WABA ID  (WhatsApp Business Account ID)</a:t>
            </a:r>
            <a:endParaRPr lang="en-US" sz="830" dirty="0"/>
          </a:p>
        </p:txBody>
      </p:sp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91840" y="4297680"/>
            <a:ext cx="137160" cy="137160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3474720" y="422452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 (permanent access token from Meta)</a:t>
            </a:r>
            <a:endParaRPr lang="en-US" sz="830" dirty="0"/>
          </a:p>
        </p:txBody>
      </p:sp>
      <p:pic>
        <p:nvPicPr>
          <p:cNvPr id="5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91840" y="4645152"/>
            <a:ext cx="137160" cy="137160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3474720" y="45720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pre-approved template names (fee reminder + announcement)</a:t>
            </a:r>
            <a:endParaRPr lang="en-US" sz="830" dirty="0"/>
          </a:p>
        </p:txBody>
      </p:sp>
      <p:sp>
        <p:nvSpPr>
          <p:cNvPr id="57" name="Shape 34"/>
          <p:cNvSpPr/>
          <p:nvPr/>
        </p:nvSpPr>
        <p:spPr>
          <a:xfrm>
            <a:off x="6163056" y="2980944"/>
            <a:ext cx="2852928" cy="2048256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8" name="Shape 35"/>
          <p:cNvSpPr/>
          <p:nvPr/>
        </p:nvSpPr>
        <p:spPr>
          <a:xfrm>
            <a:off x="6291072" y="3090672"/>
            <a:ext cx="384048" cy="38404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45936" y="3145536"/>
            <a:ext cx="274320" cy="274320"/>
          </a:xfrm>
          <a:prstGeom prst="rect">
            <a:avLst/>
          </a:prstGeom>
        </p:spPr>
      </p:pic>
      <p:sp>
        <p:nvSpPr>
          <p:cNvPr id="60" name="Text 36"/>
          <p:cNvSpPr/>
          <p:nvPr/>
        </p:nvSpPr>
        <p:spPr>
          <a:xfrm>
            <a:off x="6748272" y="30906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School Profile</a:t>
            </a:r>
            <a:endParaRPr lang="en-US" sz="950" dirty="0"/>
          </a:p>
        </p:txBody>
      </p:sp>
      <p:pic>
        <p:nvPicPr>
          <p:cNvPr id="6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91072" y="3602736"/>
            <a:ext cx="137160" cy="137160"/>
          </a:xfrm>
          <a:prstGeom prst="rect">
            <a:avLst/>
          </a:prstGeom>
        </p:spPr>
      </p:pic>
      <p:sp>
        <p:nvSpPr>
          <p:cNvPr id="62" name="Text 37"/>
          <p:cNvSpPr/>
          <p:nvPr/>
        </p:nvSpPr>
        <p:spPr>
          <a:xfrm>
            <a:off x="6473952" y="35295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name, phone, email, address</a:t>
            </a:r>
            <a:endParaRPr lang="en-US" sz="830" dirty="0"/>
          </a:p>
        </p:txBody>
      </p:sp>
      <p:pic>
        <p:nvPicPr>
          <p:cNvPr id="6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91072" y="3950208"/>
            <a:ext cx="137160" cy="137160"/>
          </a:xfrm>
          <a:prstGeom prst="rect">
            <a:avLst/>
          </a:prstGeom>
        </p:spPr>
      </p:pic>
      <p:sp>
        <p:nvSpPr>
          <p:cNvPr id="64" name="Text 38"/>
          <p:cNvSpPr/>
          <p:nvPr/>
        </p:nvSpPr>
        <p:spPr>
          <a:xfrm>
            <a:off x="6473952" y="387705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logo  (optional, shown in app header)</a:t>
            </a:r>
            <a:endParaRPr lang="en-US" sz="830" dirty="0"/>
          </a:p>
        </p:txBody>
      </p:sp>
      <p:sp>
        <p:nvSpPr>
          <p:cNvPr id="65" name="Shape 39"/>
          <p:cNvSpPr/>
          <p:nvPr/>
        </p:nvSpPr>
        <p:spPr>
          <a:xfrm>
            <a:off x="164592" y="4718304"/>
            <a:ext cx="8814816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6" name="Text 40"/>
          <p:cNvSpPr/>
          <p:nvPr/>
        </p:nvSpPr>
        <p:spPr>
          <a:xfrm>
            <a:off x="256032" y="4718304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Once this data is ready, your school can go live in under an hour!</a:t>
            </a:r>
            <a:endParaRPr lang="en-US" sz="1150" dirty="0"/>
          </a:p>
        </p:txBody>
      </p:sp>
      <p:sp>
        <p:nvSpPr>
          <p:cNvPr id="67" name="Text 41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SchoolERP – Complete School Management System</dc:title>
  <dc:subject>PptxGenJS Presentation</dc:subject>
  <dc:creator>PptxGenJS</dc:creator>
  <cp:lastModifiedBy>PptxGenJS</cp:lastModifiedBy>
  <cp:revision>1</cp:revision>
  <dcterms:created xsi:type="dcterms:W3CDTF">2026-05-22T12:16:03Z</dcterms:created>
  <dcterms:modified xsi:type="dcterms:W3CDTF">2026-05-22T12:16:03Z</dcterms:modified>
</cp:coreProperties>
</file>